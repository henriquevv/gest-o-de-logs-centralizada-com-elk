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498079" cy="1554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4400" b="1">
                <a:solidFill>
                  <a:srgbClr val="F1F5F9"/>
                </a:solidFill>
                <a:latin typeface="Aptos"/>
              </a:defRPr>
            </a:pPr>
            <a:r>
              <a:t>GESTÃO DE LOGS</a:t>
            </a:r>
            <a:br/>
            <a:r>
              <a:t>CENTRALIZADA COM ELK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6858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Aptos"/>
              </a:defRPr>
            </a:pPr>
            <a:r>
              <a:t>Apresentação prática para Sistemas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49039"/>
            <a:ext cx="5120640" cy="20116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F1F5F9"/>
                </a:solidFill>
                <a:latin typeface="Aptos"/>
              </a:defRPr>
            </a:pPr>
            <a:r>
              <a:t>Filebeat coleta logs</a:t>
            </a:r>
          </a:p>
          <a:p>
            <a:pPr>
              <a:spcAft>
                <a:spcPts val="800"/>
              </a:spcAft>
              <a:defRPr sz="2300">
                <a:solidFill>
                  <a:srgbClr val="F1F5F9"/>
                </a:solidFill>
                <a:latin typeface="Aptos"/>
              </a:defRPr>
            </a:pPr>
            <a:r>
              <a:t>Logstash processa</a:t>
            </a:r>
          </a:p>
          <a:p>
            <a:pPr>
              <a:spcAft>
                <a:spcPts val="800"/>
              </a:spcAft>
              <a:defRPr sz="2300">
                <a:solidFill>
                  <a:srgbClr val="F1F5F9"/>
                </a:solidFill>
                <a:latin typeface="Aptos"/>
              </a:defRPr>
            </a:pPr>
            <a:r>
              <a:t>Elasticsearch indexa</a:t>
            </a:r>
          </a:p>
          <a:p>
            <a:pPr>
              <a:spcAft>
                <a:spcPts val="800"/>
              </a:spcAft>
              <a:defRPr sz="2300">
                <a:solidFill>
                  <a:srgbClr val="F1F5F9"/>
                </a:solidFill>
                <a:latin typeface="Aptos"/>
              </a:defRPr>
            </a:pPr>
            <a:r>
              <a:t>Kibana mostra dashboards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51560"/>
            <a:ext cx="5715000" cy="530352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ibana-dashboard-real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784294"/>
            <a:ext cx="5257800" cy="3289411"/>
          </a:xfrm>
          <a:prstGeom prst="rect">
            <a:avLst/>
          </a:prstGeom>
          <a:ln w="12700">
            <a:solidFill>
              <a:srgbClr val="47556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549640" y="5715000"/>
            <a:ext cx="49377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t>Demo real do Kibana, não mockup bonito pra enganar professor.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26679"/>
            <a:ext cx="9144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Gestão de Logs Centralizada com ELK · Sistemas Operacionais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0" y="7726679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34416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ptos"/>
              </a:defRPr>
            </a:pPr>
            <a:r>
              <a:t>1. 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3075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t>Por que centralizar logs?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6035040" cy="52120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53035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500" b="1">
                <a:solidFill>
                  <a:srgbClr val="EF4444"/>
                </a:solidFill>
                <a:latin typeface="Aptos"/>
              </a:defRPr>
            </a:pPr>
            <a:r>
              <a:t>Sem centralização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5303520" cy="34747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Cada servidor guarda logs locais em /var/log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Investigar falha SSH exige entrar máquina por máquina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Erros HTTP ficam espalhados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Auditoria vira busca manual em arquivo texto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508760"/>
            <a:ext cx="6355080" cy="52120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783080"/>
            <a:ext cx="53035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t>Com ELK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377440"/>
            <a:ext cx="5486400" cy="34747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Eventos chegam em um índice central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Filtros por usuário, IP, status HTTP e horário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Dashboard mostra padrões rapidamente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A investigação fica reproduzível e auditável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726679"/>
            <a:ext cx="9144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Gestão de Logs Centralizada com ELK · Sistemas Operacionais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7726679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34416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ptos"/>
              </a:defRPr>
            </a:pPr>
            <a:r>
              <a:t>2. Resultado que será mostrado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3075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t>Começamos pelo que interessa: o dashboard funcionando</a:t>
            </a:r>
          </a:p>
        </p:txBody>
      </p:sp>
      <p:pic>
        <p:nvPicPr>
          <p:cNvPr id="5" name="Picture 4" descr="kibana-dashboard-real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530" y="1234440"/>
            <a:ext cx="9573338" cy="5989320"/>
          </a:xfrm>
          <a:prstGeom prst="rect">
            <a:avLst/>
          </a:prstGeom>
          <a:ln w="12700">
            <a:solidFill>
              <a:srgbClr val="47556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7269480"/>
            <a:ext cx="12618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Aptos"/>
              </a:defRPr>
            </a:pPr>
            <a:r>
              <a:t>Este é o ponto principal da apresentação: logs gerados → enviados → indexados → visualizados no Kibana.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726679"/>
            <a:ext cx="9144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Gestão de Logs Centralizada com ELK · Sistemas Operacionais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0" y="7726679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34416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ptos"/>
              </a:defRPr>
            </a:pPr>
            <a:r>
              <a:t>3. Ordem da 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3075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t>A demo precisa parecer controle, não improviso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2801600" cy="7863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536192"/>
            <a:ext cx="411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22D3E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536192"/>
            <a:ext cx="34747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100" b="1">
                <a:solidFill>
                  <a:srgbClr val="F1F5F9"/>
                </a:solidFill>
                <a:latin typeface="Aptos"/>
              </a:defRPr>
            </a:pPr>
            <a:r>
              <a:t>docker compose 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563624"/>
            <a:ext cx="7680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0">
                <a:solidFill>
                  <a:srgbClr val="94A3B8"/>
                </a:solidFill>
                <a:latin typeface="Aptos"/>
              </a:defRPr>
            </a:pPr>
            <a:r>
              <a:t>mostrar os 5 containers rodando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96312"/>
            <a:ext cx="12801600" cy="7863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615184"/>
            <a:ext cx="411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22D3E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15184"/>
            <a:ext cx="34747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100" b="1">
                <a:solidFill>
                  <a:srgbClr val="F1F5F9"/>
                </a:solidFill>
                <a:latin typeface="Aptos"/>
              </a:defRPr>
            </a:pPr>
            <a:r>
              <a:t>generate_logs.sh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642616"/>
            <a:ext cx="7680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0">
                <a:solidFill>
                  <a:srgbClr val="94A3B8"/>
                </a:solidFill>
                <a:latin typeface="Aptos"/>
              </a:defRPr>
            </a:pPr>
            <a:r>
              <a:t>gerar HTTP 200/403/404/500 + SSH/sudo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75304"/>
            <a:ext cx="12801600" cy="7863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694176"/>
            <a:ext cx="411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22D3E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94176"/>
            <a:ext cx="34747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100" b="1">
                <a:solidFill>
                  <a:srgbClr val="F1F5F9"/>
                </a:solidFill>
                <a:latin typeface="Aptos"/>
              </a:defRPr>
            </a:pPr>
            <a:r>
              <a:t>verify.sh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721608"/>
            <a:ext cx="7680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0">
                <a:solidFill>
                  <a:srgbClr val="94A3B8"/>
                </a:solidFill>
                <a:latin typeface="Aptos"/>
              </a:defRPr>
            </a:pPr>
            <a:r>
              <a:t>provar índice e eventos no Elasticsearch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54296"/>
            <a:ext cx="12801600" cy="7863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773168"/>
            <a:ext cx="411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22D3E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773168"/>
            <a:ext cx="34747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100" b="1">
                <a:solidFill>
                  <a:srgbClr val="F1F5F9"/>
                </a:solidFill>
                <a:latin typeface="Aptos"/>
              </a:defRPr>
            </a:pPr>
            <a:r>
              <a:t>Kibana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800600"/>
            <a:ext cx="7680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0">
                <a:solidFill>
                  <a:srgbClr val="94A3B8"/>
                </a:solidFill>
                <a:latin typeface="Aptos"/>
              </a:defRPr>
            </a:pPr>
            <a:r>
              <a:t>mostrar os 4 gráficos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733288"/>
            <a:ext cx="12801600" cy="7863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5852159"/>
            <a:ext cx="411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22D3E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852159"/>
            <a:ext cx="34747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100" b="1">
                <a:solidFill>
                  <a:srgbClr val="F1F5F9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5879592"/>
            <a:ext cx="7680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0">
                <a:solidFill>
                  <a:srgbClr val="94A3B8"/>
                </a:solidFill>
                <a:latin typeface="Aptos"/>
              </a:defRPr>
            </a:pPr>
            <a:r>
              <a:t>filtrar nginx_access e Failed password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7726679"/>
            <a:ext cx="9144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Gestão de Logs Centralizada com ELK · Sistemas Operacionais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0" y="7726679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34416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ptos"/>
              </a:defRPr>
            </a:pPr>
            <a:r>
              <a:t>4. Arquitetura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3075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t>O caminho real do evento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331720" cy="1234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0574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Aptos"/>
              </a:defRPr>
            </a:pPr>
            <a:r>
              <a:t>Nginx / auth.log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78608"/>
            <a:ext cx="2057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ptos"/>
              </a:defRPr>
            </a:pPr>
            <a:r>
              <a:t>fontes de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2240280"/>
            <a:ext cx="3657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0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331720" cy="1234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2148840"/>
            <a:ext cx="20574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Aptos"/>
              </a:defRPr>
            </a:pPr>
            <a:r>
              <a:t>Filebeat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578608"/>
            <a:ext cx="2057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ptos"/>
              </a:defRPr>
            </a:pPr>
            <a:r>
              <a:t>coleta arquivos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240280"/>
            <a:ext cx="3657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0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331720" cy="1234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20574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Aptos"/>
              </a:defRPr>
            </a:pPr>
            <a:r>
              <a:t>Logstash :5044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78608"/>
            <a:ext cx="2057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ptos"/>
              </a:defRPr>
            </a:pPr>
            <a:r>
              <a:t>Grok / normalização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7" y="2240280"/>
            <a:ext cx="3657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0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920240"/>
            <a:ext cx="2331720" cy="1234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2148840"/>
            <a:ext cx="20574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Aptos"/>
              </a:defRPr>
            </a:pPr>
            <a:r>
              <a:t>Elasticsearch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578608"/>
            <a:ext cx="2057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ptos"/>
              </a:defRPr>
            </a:pPr>
            <a:r>
              <a:t>índice so-logs-*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48288" y="2240280"/>
            <a:ext cx="3657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0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41480" y="1920240"/>
            <a:ext cx="2331720" cy="1234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978640" y="2148840"/>
            <a:ext cx="20574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Aptos"/>
              </a:defRPr>
            </a:pPr>
            <a:r>
              <a:t>Kibana :5601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78640" y="2578608"/>
            <a:ext cx="2057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ptos"/>
              </a:defRPr>
            </a:pPr>
            <a:r>
              <a:t>dashboard e filtros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977639"/>
            <a:ext cx="12618720" cy="233172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14800"/>
            <a:ext cx="12252960" cy="2057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DejaVu Sans Mono"/>
              </a:defRPr>
            </a:pPr>
            <a:r>
              <a:t>filebeat/filebeat.yml</a:t>
            </a:r>
          </a:p>
          <a:p>
            <a:pPr>
              <a:defRPr sz="1800">
                <a:solidFill>
                  <a:srgbClr val="E2E8F0"/>
                </a:solidFill>
                <a:latin typeface="DejaVu Sans Mono"/>
              </a:defRPr>
            </a:pPr>
            <a:r>
              <a:t>  paths: /var/log/nginx/access.log</a:t>
            </a:r>
          </a:p>
          <a:p>
            <a:pPr>
              <a:defRPr sz="1800">
                <a:solidFill>
                  <a:srgbClr val="E2E8F0"/>
                </a:solidFill>
                <a:latin typeface="DejaVu Sans Mono"/>
              </a:defRPr>
            </a:pPr>
            <a:r>
              <a:t>  paths: /sample-logs/auth.log</a:t>
            </a:r>
          </a:p>
          <a:p>
            <a:pPr>
              <a:defRPr sz="1800">
                <a:solidFill>
                  <a:srgbClr val="E2E8F0"/>
                </a:solidFill>
                <a:latin typeface="DejaVu Sans Mono"/>
              </a:defRPr>
            </a:pPr>
          </a:p>
          <a:p>
            <a:pPr>
              <a:defRPr sz="1800">
                <a:solidFill>
                  <a:srgbClr val="E2E8F0"/>
                </a:solidFill>
                <a:latin typeface="DejaVu Sans Mono"/>
              </a:defRPr>
            </a:pPr>
            <a:r>
              <a:t>logstash/pipeline/logstash.conf</a:t>
            </a:r>
          </a:p>
          <a:p>
            <a:pPr>
              <a:defRPr sz="1800">
                <a:solidFill>
                  <a:srgbClr val="E2E8F0"/>
                </a:solidFill>
                <a:latin typeface="DejaVu Sans Mono"/>
              </a:defRPr>
            </a:pPr>
            <a:r>
              <a:t>  COMBINEDAPACHELOG</a:t>
            </a:r>
          </a:p>
          <a:p>
            <a:pPr>
              <a:defRPr sz="1800">
                <a:solidFill>
                  <a:srgbClr val="E2E8F0"/>
                </a:solidFill>
                <a:latin typeface="DejaVu Sans Mono"/>
              </a:defRPr>
            </a:pPr>
            <a:r>
              <a:t>  Failed password / sudo / Accepted password</a:t>
            </a:r>
          </a:p>
          <a:p>
            <a:pPr>
              <a:defRPr sz="1800">
                <a:solidFill>
                  <a:srgbClr val="E2E8F0"/>
                </a:solidFill>
                <a:latin typeface="DejaVu Sans Mono"/>
              </a:defRPr>
            </a:pPr>
          </a:p>
          <a:p>
            <a:pPr>
              <a:defRPr sz="1800">
                <a:solidFill>
                  <a:srgbClr val="E2E8F0"/>
                </a:solidFill>
                <a:latin typeface="DejaVu Sans Mono"/>
              </a:defRPr>
            </a:pPr>
            <a:r>
              <a:t>Elasticsearch</a:t>
            </a:r>
          </a:p>
          <a:p>
            <a:pPr>
              <a:defRPr sz="1800">
                <a:solidFill>
                  <a:srgbClr val="E2E8F0"/>
                </a:solidFill>
                <a:latin typeface="DejaVu Sans Mono"/>
              </a:defRPr>
            </a:pPr>
            <a:r>
              <a:t>  so-logs-YYYY.MM.dd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7726679"/>
            <a:ext cx="9144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Gestão de Logs Centralizada com ELK · Sistemas Operacionais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0" y="7726679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34416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ptos"/>
              </a:defRPr>
            </a:pPr>
            <a:r>
              <a:t>5. Evidência pelo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3075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t>Antes do Kibana, provamos que a stack está viva</a:t>
            </a:r>
          </a:p>
        </p:txBody>
      </p:sp>
      <p:pic>
        <p:nvPicPr>
          <p:cNvPr id="5" name="Picture 4" descr="terminal-evidencia-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9" y="1234440"/>
            <a:ext cx="10566400" cy="5943600"/>
          </a:xfrm>
          <a:prstGeom prst="rect">
            <a:avLst/>
          </a:prstGeom>
          <a:ln w="12700">
            <a:solidFill>
              <a:srgbClr val="47556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4360" y="7726679"/>
            <a:ext cx="9144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Gestão de Logs Centralizada com ELK · Sistemas Operacionais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726679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34416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ptos"/>
              </a:defRPr>
            </a:pPr>
            <a:r>
              <a:t>6. Eventos gerados para 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3075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t>Nada de “confia”: o script cria casos claros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6217920" cy="53949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53035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500" b="1">
                <a:solidFill>
                  <a:srgbClr val="22D3EE"/>
                </a:solidFill>
                <a:latin typeface="Aptos"/>
              </a:defRPr>
            </a:pPr>
            <a:r>
              <a:t>HTTP /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5303520" cy="32918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200: acesso normal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403: /admin-falso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404: /rota-inexistente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500: /erro-500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Campos: rota, IP, status, horário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17320"/>
            <a:ext cx="6217920" cy="53949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737360"/>
            <a:ext cx="53035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500" b="1">
                <a:solidFill>
                  <a:srgbClr val="22D3EE"/>
                </a:solidFill>
                <a:latin typeface="Aptos"/>
              </a:defRPr>
            </a:pPr>
            <a:r>
              <a:t>Linux / SSH simulado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331720"/>
            <a:ext cx="5303520" cy="32918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Failed password: tentativa inválida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Accepted password: login aceito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sudo: uso de privilégio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Campos: user, source_ip, source_port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ptos"/>
              </a:defRPr>
            </a:pPr>
            <a:r>
              <a:t>Filtro-chave: message: "Failed password"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726679"/>
            <a:ext cx="9144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Gestão de Logs Centralizada com ELK · Sistemas Operacionais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7726679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34416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ptos"/>
              </a:defRPr>
            </a:pPr>
            <a:r>
              <a:t>7. Discover: logs HTTP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3075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t>Filtro usado: fields.log_type: "nginx_access"</a:t>
            </a:r>
          </a:p>
        </p:txBody>
      </p:sp>
      <p:pic>
        <p:nvPicPr>
          <p:cNvPr id="5" name="Picture 4" descr="discover-nginx-real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234440"/>
            <a:ext cx="9582912" cy="5989320"/>
          </a:xfrm>
          <a:prstGeom prst="rect">
            <a:avLst/>
          </a:prstGeom>
          <a:ln w="12700">
            <a:solidFill>
              <a:srgbClr val="47556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4360" y="7726679"/>
            <a:ext cx="9144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Gestão de Logs Centralizada com ELK · Sistemas Operacionais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726679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34416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ptos"/>
              </a:defRPr>
            </a:pPr>
            <a:r>
              <a:t>8. Discover: falhas SSH reais no 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3075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t>Filtro usado: message: "Failed password"</a:t>
            </a:r>
          </a:p>
        </p:txBody>
      </p:sp>
      <p:pic>
        <p:nvPicPr>
          <p:cNvPr id="5" name="Picture 4" descr="discover-failed-password-real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234440"/>
            <a:ext cx="9582912" cy="5989320"/>
          </a:xfrm>
          <a:prstGeom prst="rect">
            <a:avLst/>
          </a:prstGeom>
          <a:ln w="12700">
            <a:solidFill>
              <a:srgbClr val="47556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4360" y="7726679"/>
            <a:ext cx="9144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Gestão de Logs Centralizada com ELK · Sistemas Operacionais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726679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34416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ptos"/>
              </a:defRPr>
            </a:pPr>
            <a:r>
              <a:t>9. Como atende ao tema do professor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3075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t>Mapeamento direto: requisito → implementação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1280160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472184"/>
            <a:ext cx="3840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1">
                <a:solidFill>
                  <a:srgbClr val="22D3EE"/>
                </a:solidFill>
                <a:latin typeface="Aptos"/>
              </a:defRPr>
            </a:pPr>
            <a:r>
              <a:t>Servidor Linux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72184"/>
            <a:ext cx="80467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0">
                <a:solidFill>
                  <a:srgbClr val="F1F5F9"/>
                </a:solidFill>
                <a:latin typeface="Aptos"/>
              </a:defRPr>
            </a:pPr>
            <a:r>
              <a:t>host executando Docker Compose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1280160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95144"/>
            <a:ext cx="3840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1">
                <a:solidFill>
                  <a:srgbClr val="22D3EE"/>
                </a:solidFill>
                <a:latin typeface="Aptos"/>
              </a:defRPr>
            </a:pPr>
            <a:r>
              <a:t>ELK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295144"/>
            <a:ext cx="80467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0">
                <a:solidFill>
                  <a:srgbClr val="F1F5F9"/>
                </a:solidFill>
                <a:latin typeface="Aptos"/>
              </a:defRPr>
            </a:pPr>
            <a:r>
              <a:t>Elasticsearch + Logstash + Kibana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71800"/>
            <a:ext cx="1280160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118104"/>
            <a:ext cx="3840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1">
                <a:solidFill>
                  <a:srgbClr val="22D3EE"/>
                </a:solidFill>
                <a:latin typeface="Aptos"/>
              </a:defRPr>
            </a:pPr>
            <a:r>
              <a:t>Agente Filebeat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118104"/>
            <a:ext cx="80467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0">
                <a:solidFill>
                  <a:srgbClr val="F1F5F9"/>
                </a:solidFill>
                <a:latin typeface="Aptos"/>
              </a:defRPr>
            </a:pPr>
            <a:r>
              <a:t>container Filebeat lendo logs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94760"/>
            <a:ext cx="1280160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941064"/>
            <a:ext cx="3840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1">
                <a:solidFill>
                  <a:srgbClr val="22D3EE"/>
                </a:solidFill>
                <a:latin typeface="Aptos"/>
              </a:defRPr>
            </a:pPr>
            <a:r>
              <a:t>Logs SSH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941064"/>
            <a:ext cx="80467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0">
                <a:solidFill>
                  <a:srgbClr val="F1F5F9"/>
                </a:solidFill>
                <a:latin typeface="Aptos"/>
              </a:defRPr>
            </a:pPr>
            <a:r>
              <a:t>sample-logs/auth.log simulando /var/log/auth.log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17720"/>
            <a:ext cx="1280160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64024"/>
            <a:ext cx="3840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1">
                <a:solidFill>
                  <a:srgbClr val="22D3EE"/>
                </a:solidFill>
                <a:latin typeface="Aptos"/>
              </a:defRPr>
            </a:pPr>
            <a:r>
              <a:t>Logs Apache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764024"/>
            <a:ext cx="80467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0">
                <a:solidFill>
                  <a:srgbClr val="F1F5F9"/>
                </a:solidFill>
                <a:latin typeface="Aptos"/>
              </a:defRPr>
            </a:pPr>
            <a:r>
              <a:t>Nginx gera logs HTTP equivalentes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440680"/>
            <a:ext cx="1280160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586984"/>
            <a:ext cx="3840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1">
                <a:solidFill>
                  <a:srgbClr val="22D3EE"/>
                </a:solidFill>
                <a:latin typeface="Aptos"/>
              </a:defRPr>
            </a:pPr>
            <a:r>
              <a:t>Dashboards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586984"/>
            <a:ext cx="80467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0">
                <a:solidFill>
                  <a:srgbClr val="F1F5F9"/>
                </a:solidFill>
                <a:latin typeface="Aptos"/>
              </a:defRPr>
            </a:pPr>
            <a:r>
              <a:t>kibana-dashboard.ndjson + Kibana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6720840"/>
            <a:ext cx="125272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Aptos"/>
              </a:defRPr>
            </a:pPr>
            <a:r>
              <a:t>Defesa obrigatória: em produção, Filebeat ficaria nas máquinas reais; no laboratório, containers simulam a arquitetura lógica.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7726679"/>
            <a:ext cx="9144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Gestão de Logs Centralizada com ELK · Sistemas Operacionais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0" y="7726679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34416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ptos"/>
              </a:defRPr>
            </a:pPr>
            <a:r>
              <a:t>10. Trade-offs e 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3075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t>Mostrar maturidade técnica vale ponto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6172200" cy="160020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5778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ptos"/>
              </a:defRPr>
            </a:pPr>
            <a:r>
              <a:t>Docker 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54864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Aptos"/>
              </a:defRPr>
            </a:pPr>
            <a:r>
              <a:t>reproduzível, mas simula várias máquinas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508760"/>
            <a:ext cx="6172200" cy="160020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737360"/>
            <a:ext cx="55778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ptos"/>
              </a:defRPr>
            </a:pPr>
            <a:r>
              <a:t>Nginx vs Apache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258568"/>
            <a:ext cx="54864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Aptos"/>
              </a:defRPr>
            </a:pPr>
            <a:r>
              <a:t>logs HTTP equivalentes, mas não é Apache literalmente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49039"/>
            <a:ext cx="6172200" cy="160020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55778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ptos"/>
              </a:defRPr>
            </a:pPr>
            <a:r>
              <a:t>SSH simulado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54864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Aptos"/>
              </a:defRPr>
            </a:pPr>
            <a:r>
              <a:t>demo controlada, mas não é ataque real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749039"/>
            <a:ext cx="6172200" cy="160020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977639"/>
            <a:ext cx="55778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ptos"/>
              </a:defRPr>
            </a:pPr>
            <a:r>
              <a:t>ELK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498848"/>
            <a:ext cx="54864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Aptos"/>
              </a:defRPr>
            </a:pPr>
            <a:r>
              <a:t>poderoso, mas consome 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46520"/>
            <a:ext cx="128016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800" b="1">
                <a:solidFill>
                  <a:srgbClr val="22D3EE"/>
                </a:solidFill>
                <a:latin typeface="Aptos"/>
              </a:defRPr>
            </a:pPr>
            <a:r>
              <a:t>Não escondam essas limitações. Expliquem. Professor gosta quando o grupo sabe defender decisão técnica sem florear.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7726679"/>
            <a:ext cx="9144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Gestão de Logs Centralizada com ELK · Sistemas Operacionais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0" y="7726679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28016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4400" b="1">
                <a:solidFill>
                  <a:srgbClr val="F1F5F9"/>
                </a:solidFill>
                <a:latin typeface="Aptos"/>
              </a:defRPr>
            </a:pPr>
            <a: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57400"/>
            <a:ext cx="120700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Aptos"/>
              </a:defRPr>
            </a:pPr>
            <a:r>
              <a:t>Saímos de logs locais espalhados para uma visão centralizada, pesquisável e auditável.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246120"/>
            <a:ext cx="10972800" cy="182880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3794760"/>
            <a:ext cx="1042416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400" b="1">
                <a:solidFill>
                  <a:srgbClr val="F1F5F9"/>
                </a:solidFill>
                <a:latin typeface="Aptos"/>
              </a:defRPr>
            </a:pPr>
            <a:r>
              <a:t>gerar log  →  Filebeat coleta  →  Logstash processa  →  Elasticsearch indexa  →  Kibana mostra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5715000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600" b="1">
                <a:solidFill>
                  <a:srgbClr val="94A3B8"/>
                </a:solidFill>
                <a:latin typeface="Aptos"/>
              </a:defRPr>
            </a:pPr>
            <a:r>
              <a:t>Frase final: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080760"/>
            <a:ext cx="104241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2200" b="1">
                <a:solidFill>
                  <a:srgbClr val="22C55E"/>
                </a:solidFill>
                <a:latin typeface="Aptos"/>
              </a:defRPr>
            </a:pPr>
            <a:r>
              <a:t>“A centralização permite investigar falhas SSH, erros HTTP e padrões suspeitos sem acessar máquina por máquina.”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26679"/>
            <a:ext cx="9144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Gestão de Logs Centralizada com ELK · Sistemas Operacionais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0" y="7726679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